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404050" cy="51206400"/>
  <p:notesSz cx="6888163" cy="100203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71" autoAdjust="0"/>
    <p:restoredTop sz="94660"/>
  </p:normalViewPr>
  <p:slideViewPr>
    <p:cSldViewPr snapToGrid="0">
      <p:cViewPr>
        <p:scale>
          <a:sx n="50" d="100"/>
          <a:sy n="50" d="100"/>
        </p:scale>
        <p:origin x="162" y="-6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mover o slide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pt-BR" sz="2000" b="0" strike="noStrike" spc="-1">
                <a:latin typeface="Arial"/>
              </a:rPr>
              <a:t>Clique para editar o formato de notas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1400" b="0" strike="noStrike" spc="-1">
                <a:latin typeface="Times New Roman"/>
              </a:rPr>
              <a:t>&lt;cabeçalho&gt;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strike="noStrike" spc="-1">
                <a:latin typeface="Times New Roman"/>
              </a:rPr>
              <a:t>&lt;data/hora&gt;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BR" sz="1400" b="0" strike="noStrike" spc="-1"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indent="0" algn="r">
              <a:buNone/>
            </a:pPr>
            <a:fld id="{BD9C849F-56F3-4A48-879F-89DF3E6ABEF7}" type="slidenum">
              <a:rPr lang="pt-BR" sz="1400" b="0" strike="noStrike" spc="-1">
                <a:latin typeface="Times New Roman"/>
              </a:rPr>
              <a:t>‹nº›</a:t>
            </a:fld>
            <a:endParaRPr lang="pt-B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337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255838" y="750888"/>
            <a:ext cx="2374900" cy="3757612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9040" y="4759200"/>
            <a:ext cx="5509440" cy="4509360"/>
          </a:xfrm>
          <a:prstGeom prst="rect">
            <a:avLst/>
          </a:prstGeom>
          <a:noFill/>
          <a:ln w="0">
            <a:noFill/>
          </a:ln>
        </p:spPr>
        <p:txBody>
          <a:bodyPr lIns="96480" tIns="48240" rIns="96480" bIns="48240" anchor="t">
            <a:noAutofit/>
          </a:bodyPr>
          <a:lstStyle/>
          <a:p>
            <a:pPr marL="216000" indent="0">
              <a:buNone/>
            </a:pPr>
            <a:endParaRPr lang="pt-BR" sz="2000" b="0" strike="noStrike" spc="-1">
              <a:latin typeface="Arial"/>
            </a:endParaRPr>
          </a:p>
        </p:txBody>
      </p:sp>
      <p:sp>
        <p:nvSpPr>
          <p:cNvPr id="76" name="Google Shape;87;p1:notes"/>
          <p:cNvSpPr/>
          <p:nvPr/>
        </p:nvSpPr>
        <p:spPr>
          <a:xfrm>
            <a:off x="3902040" y="9516960"/>
            <a:ext cx="2983680" cy="50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D5AB0A08-DFF7-47B8-A8E3-6EE2E82CEDC5}" type="slidenum">
              <a:rPr lang="en-US" sz="1300" b="0" strike="noStrike" spc="-1">
                <a:solidFill>
                  <a:srgbClr val="000000"/>
                </a:solidFill>
                <a:latin typeface="Arial"/>
                <a:ea typeface="Arial"/>
              </a:rPr>
              <a:t>1</a:t>
            </a:fld>
            <a:endParaRPr lang="pt-BR" sz="13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3384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0C84778-4E09-45C7-BE40-555006355B88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620000" y="11982240"/>
            <a:ext cx="29162880" cy="296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CCFE11A-16B7-4F79-8088-8D0773E86EE3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1620000" y="11982240"/>
            <a:ext cx="29162880" cy="296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46AE1DA-AAEA-4645-91AC-683D5E51B341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620000" y="11982240"/>
            <a:ext cx="14231160" cy="296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16563240" y="11982240"/>
            <a:ext cx="14231160" cy="296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71418C9-7F83-4238-964C-19A45AD81F8F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2F06A23-281E-4798-ABEA-889467E2CCF2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2430360" y="15907320"/>
            <a:ext cx="27542880" cy="508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445C78F-84D9-47AA-936E-1BCE7A451956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620000" y="119822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16563240" y="11982240"/>
            <a:ext cx="14231160" cy="296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1620000" y="274946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E9F8418-43CD-47FD-B856-EAAF66201CDA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620000" y="11982240"/>
            <a:ext cx="14231160" cy="296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16563240" y="119822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16563240" y="274946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419787-71A8-47C2-A113-1A3220697915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620000" y="119822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16563240" y="119822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620000" y="27494640"/>
            <a:ext cx="2916288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6E12006-7B84-4849-9B95-BC542ADD355B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620000" y="11982240"/>
            <a:ext cx="2916288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620000" y="27494640"/>
            <a:ext cx="2916288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A2F30CD-D9BA-4F75-A476-154370D333E5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620000" y="119822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16563240" y="119822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620000" y="274946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16563240" y="274946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20E8366-E46B-4B2F-AFC2-69CF97692704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620000" y="11982240"/>
            <a:ext cx="939024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11480040" y="11982240"/>
            <a:ext cx="939024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21340440" y="11982240"/>
            <a:ext cx="939024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1620000" y="27494640"/>
            <a:ext cx="939024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11480040" y="27494640"/>
            <a:ext cx="939024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21340440" y="27494640"/>
            <a:ext cx="9390240" cy="14166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328D25D-2150-475F-8DA4-6EDB502F2281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11071080" y="47461320"/>
            <a:ext cx="10260720" cy="2726640"/>
          </a:xfrm>
          <a:prstGeom prst="rect">
            <a:avLst/>
          </a:prstGeom>
          <a:noFill/>
          <a:ln w="0">
            <a:noFill/>
          </a:ln>
        </p:spPr>
        <p:txBody>
          <a:bodyPr lIns="432000" tIns="216000" rIns="432000" bIns="216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23223600" y="47461320"/>
            <a:ext cx="7558920" cy="2726640"/>
          </a:xfrm>
          <a:prstGeom prst="rect">
            <a:avLst/>
          </a:prstGeom>
          <a:noFill/>
          <a:ln w="0">
            <a:noFill/>
          </a:ln>
        </p:spPr>
        <p:txBody>
          <a:bodyPr lIns="432000" tIns="216000" rIns="432000" bIns="216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5700" b="0" strike="noStrike" spc="-1">
                <a:solidFill>
                  <a:srgbClr val="898989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542A96B-73A4-4803-9FFB-CAC192CDB3D9}" type="slidenum">
              <a:rPr lang="en-US" sz="5700" b="0" strike="noStrike" spc="-1">
                <a:solidFill>
                  <a:srgbClr val="898989"/>
                </a:solidFill>
                <a:latin typeface="Calibri"/>
                <a:ea typeface="Calibri"/>
              </a:rPr>
              <a:t>‹nº›</a:t>
            </a:fld>
            <a:endParaRPr lang="pt-BR" sz="57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1620720" y="47461320"/>
            <a:ext cx="7558920" cy="2726640"/>
          </a:xfrm>
          <a:prstGeom prst="rect">
            <a:avLst/>
          </a:prstGeom>
          <a:noFill/>
          <a:ln w="0">
            <a:noFill/>
          </a:ln>
        </p:spPr>
        <p:txBody>
          <a:bodyPr lIns="432000" tIns="216000" rIns="432000" bIns="216000" anchor="ctr">
            <a:noAutofit/>
          </a:bodyPr>
          <a:lstStyle>
            <a:lvl1pPr indent="0">
              <a:buNone/>
              <a:defRPr lang="pt-BR" sz="1400" b="0" strike="noStrike" spc="-1"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latin typeface="Times New Roman"/>
              </a:rPr>
              <a:t>&lt;data/hora&gt;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1620000" y="11982240"/>
            <a:ext cx="29162880" cy="296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8250" y="6977265"/>
            <a:ext cx="20547900" cy="3671280"/>
          </a:xfrm>
          <a:prstGeom prst="rect">
            <a:avLst/>
          </a:prstGeom>
          <a:noFill/>
          <a:ln w="0">
            <a:noFill/>
          </a:ln>
        </p:spPr>
        <p:txBody>
          <a:bodyPr lIns="432000" tIns="216000" rIns="432000" bIns="216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strike="noStrike" spc="-1" dirty="0">
                <a:solidFill>
                  <a:schemeClr val="dk1"/>
                </a:solidFill>
                <a:latin typeface="Arial"/>
                <a:ea typeface="Arial"/>
              </a:rPr>
              <a:t>COLECTOR MARKET</a:t>
            </a:r>
            <a:r>
              <a:rPr sz="6000" dirty="0"/>
              <a:t/>
            </a:r>
            <a:br>
              <a:rPr sz="6000" dirty="0"/>
            </a:br>
            <a:r>
              <a:rPr lang="en-US" sz="6000" b="1" strike="noStrike" spc="-1" dirty="0">
                <a:solidFill>
                  <a:schemeClr val="dk1"/>
                </a:solidFill>
                <a:latin typeface="Arial"/>
                <a:ea typeface="Arial"/>
              </a:rPr>
              <a:t>VENDA DE ITEMS DE COLECIONADOR</a:t>
            </a:r>
            <a:endParaRPr lang="pt-BR" sz="6000" b="0" strike="noStrike" spc="-1" dirty="0">
              <a:latin typeface="Arial"/>
            </a:endParaRPr>
          </a:p>
        </p:txBody>
      </p:sp>
      <p:sp>
        <p:nvSpPr>
          <p:cNvPr id="48" name="Google Shape;91;p1"/>
          <p:cNvSpPr/>
          <p:nvPr/>
        </p:nvSpPr>
        <p:spPr>
          <a:xfrm>
            <a:off x="687135" y="10529332"/>
            <a:ext cx="15270585" cy="1460160"/>
          </a:xfrm>
          <a:prstGeom prst="rect">
            <a:avLst/>
          </a:prstGeom>
          <a:solidFill>
            <a:srgbClr val="6CC071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0" tIns="216000" rIns="432000" bIns="216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6000" b="1" strike="noStrike" spc="-1">
                <a:solidFill>
                  <a:schemeClr val="lt1"/>
                </a:solidFill>
                <a:latin typeface="Arial"/>
                <a:ea typeface="Arial"/>
              </a:rPr>
              <a:t>INTRODUÇÃO</a:t>
            </a:r>
            <a:endParaRPr lang="pt-BR" sz="6000" b="0" strike="noStrike" spc="-1">
              <a:latin typeface="Arial"/>
            </a:endParaRPr>
          </a:p>
        </p:txBody>
      </p:sp>
      <p:sp>
        <p:nvSpPr>
          <p:cNvPr id="49" name="Google Shape;92;p1"/>
          <p:cNvSpPr/>
          <p:nvPr/>
        </p:nvSpPr>
        <p:spPr>
          <a:xfrm>
            <a:off x="647640" y="13399920"/>
            <a:ext cx="15121800" cy="18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0" tIns="216000" rIns="432000" bIns="216000" anchor="t">
            <a:norm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endParaRPr lang="pt-BR" sz="12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endParaRPr lang="pt-BR" sz="2800" b="0" strike="noStrike" spc="-1">
              <a:latin typeface="Arial"/>
            </a:endParaRPr>
          </a:p>
        </p:txBody>
      </p:sp>
      <p:sp>
        <p:nvSpPr>
          <p:cNvPr id="50" name="Google Shape;93;p1"/>
          <p:cNvSpPr/>
          <p:nvPr/>
        </p:nvSpPr>
        <p:spPr>
          <a:xfrm>
            <a:off x="687135" y="29133952"/>
            <a:ext cx="15193080" cy="1460160"/>
          </a:xfrm>
          <a:prstGeom prst="rect">
            <a:avLst/>
          </a:prstGeom>
          <a:solidFill>
            <a:srgbClr val="6CC071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0" tIns="216000" rIns="432000" bIns="216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6000" b="1" strike="noStrike" spc="-1">
                <a:solidFill>
                  <a:schemeClr val="lt1"/>
                </a:solidFill>
                <a:latin typeface="Arial"/>
                <a:ea typeface="Arial"/>
              </a:rPr>
              <a:t>DESENVOLVIMENTO</a:t>
            </a:r>
            <a:endParaRPr lang="pt-BR" sz="6000" b="0" strike="noStrike" spc="-1">
              <a:latin typeface="Arial"/>
            </a:endParaRPr>
          </a:p>
        </p:txBody>
      </p:sp>
      <p:sp>
        <p:nvSpPr>
          <p:cNvPr id="51" name="Google Shape;94;p1"/>
          <p:cNvSpPr/>
          <p:nvPr/>
        </p:nvSpPr>
        <p:spPr>
          <a:xfrm>
            <a:off x="837360" y="34560360"/>
            <a:ext cx="15120360" cy="1433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" name="Google Shape;95;p1"/>
          <p:cNvSpPr/>
          <p:nvPr/>
        </p:nvSpPr>
        <p:spPr>
          <a:xfrm>
            <a:off x="16613280" y="10529332"/>
            <a:ext cx="15193080" cy="1460160"/>
          </a:xfrm>
          <a:prstGeom prst="rect">
            <a:avLst/>
          </a:prstGeom>
          <a:solidFill>
            <a:srgbClr val="6CC071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0" tIns="216000" rIns="432000" bIns="216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6000" b="1" strike="noStrike" spc="-1">
                <a:solidFill>
                  <a:schemeClr val="lt1"/>
                </a:solidFill>
                <a:latin typeface="Arial"/>
                <a:ea typeface="Arial"/>
              </a:rPr>
              <a:t>RESULTADOS </a:t>
            </a:r>
            <a:endParaRPr lang="pt-BR" sz="6000" b="0" strike="noStrike" spc="-1">
              <a:latin typeface="Arial"/>
            </a:endParaRPr>
          </a:p>
        </p:txBody>
      </p:sp>
      <p:sp>
        <p:nvSpPr>
          <p:cNvPr id="53" name="Google Shape;96;p1"/>
          <p:cNvSpPr/>
          <p:nvPr/>
        </p:nvSpPr>
        <p:spPr>
          <a:xfrm>
            <a:off x="16922880" y="13412880"/>
            <a:ext cx="15120360" cy="1570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" name="Google Shape;97;p1"/>
          <p:cNvSpPr/>
          <p:nvPr/>
        </p:nvSpPr>
        <p:spPr>
          <a:xfrm>
            <a:off x="16822080" y="29113200"/>
            <a:ext cx="15193080" cy="1460160"/>
          </a:xfrm>
          <a:prstGeom prst="rect">
            <a:avLst/>
          </a:prstGeom>
          <a:solidFill>
            <a:srgbClr val="6CC071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0" tIns="216000" rIns="432000" bIns="216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6000" b="1" strike="noStrike" spc="-1">
                <a:solidFill>
                  <a:schemeClr val="lt1"/>
                </a:solidFill>
                <a:latin typeface="Arial"/>
                <a:ea typeface="Arial"/>
              </a:rPr>
              <a:t>CONCLUSÃO </a:t>
            </a:r>
            <a:endParaRPr lang="pt-BR" sz="6000" b="0" strike="noStrike" spc="-1">
              <a:latin typeface="Arial"/>
            </a:endParaRPr>
          </a:p>
        </p:txBody>
      </p:sp>
      <p:sp>
        <p:nvSpPr>
          <p:cNvPr id="55" name="Google Shape;98;p1"/>
          <p:cNvSpPr/>
          <p:nvPr/>
        </p:nvSpPr>
        <p:spPr>
          <a:xfrm>
            <a:off x="16857720" y="31577040"/>
            <a:ext cx="15121800" cy="768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" name="Google Shape;99;p1"/>
          <p:cNvSpPr/>
          <p:nvPr/>
        </p:nvSpPr>
        <p:spPr>
          <a:xfrm>
            <a:off x="16920000" y="42254160"/>
            <a:ext cx="15095160" cy="1460160"/>
          </a:xfrm>
          <a:prstGeom prst="rect">
            <a:avLst/>
          </a:prstGeom>
          <a:solidFill>
            <a:srgbClr val="6CC071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0" tIns="216000" rIns="432000" bIns="216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6000" b="1" strike="noStrike" spc="-1" dirty="0">
                <a:solidFill>
                  <a:schemeClr val="lt1"/>
                </a:solidFill>
                <a:latin typeface="Arial"/>
                <a:ea typeface="Arial"/>
              </a:rPr>
              <a:t>REFERÊNCIAS </a:t>
            </a:r>
            <a:endParaRPr lang="pt-BR" sz="6000" b="0" strike="noStrike" spc="-1" dirty="0">
              <a:latin typeface="Arial"/>
            </a:endParaRPr>
          </a:p>
        </p:txBody>
      </p:sp>
      <p:pic>
        <p:nvPicPr>
          <p:cNvPr id="57" name="Google Shape;101;p1"/>
          <p:cNvPicPr/>
          <p:nvPr/>
        </p:nvPicPr>
        <p:blipFill>
          <a:blip r:embed="rId3"/>
          <a:stretch/>
        </p:blipFill>
        <p:spPr>
          <a:xfrm>
            <a:off x="3902040" y="1819440"/>
            <a:ext cx="4968000" cy="4061520"/>
          </a:xfrm>
          <a:prstGeom prst="rect">
            <a:avLst/>
          </a:prstGeom>
          <a:ln w="0">
            <a:noFill/>
          </a:ln>
        </p:spPr>
      </p:pic>
      <p:pic>
        <p:nvPicPr>
          <p:cNvPr id="58" name="Google Shape;102;p1" descr="http://www.ceepcascavel.com.br/home/file.php/1/EXPOCEEP2014/EXPOCEEP5_copy.jpg"/>
          <p:cNvPicPr/>
          <p:nvPr/>
        </p:nvPicPr>
        <p:blipFill>
          <a:blip r:embed="rId4"/>
          <a:srcRect l="13656" t="7087" r="11811" b="21134"/>
          <a:stretch/>
        </p:blipFill>
        <p:spPr>
          <a:xfrm>
            <a:off x="12308760" y="1560600"/>
            <a:ext cx="7786080" cy="5465160"/>
          </a:xfrm>
          <a:prstGeom prst="rect">
            <a:avLst/>
          </a:prstGeom>
          <a:ln w="0">
            <a:noFill/>
          </a:ln>
        </p:spPr>
      </p:pic>
      <p:pic>
        <p:nvPicPr>
          <p:cNvPr id="59" name="Google Shape;104;p1"/>
          <p:cNvPicPr/>
          <p:nvPr/>
        </p:nvPicPr>
        <p:blipFill>
          <a:blip r:embed="rId5"/>
          <a:srcRect l="112192" t="48618" r="-112192" b="26619"/>
          <a:stretch/>
        </p:blipFill>
        <p:spPr>
          <a:xfrm rot="10800000" flipH="1">
            <a:off x="28133640" y="2873520"/>
            <a:ext cx="2440800" cy="1266120"/>
          </a:xfrm>
          <a:prstGeom prst="rect">
            <a:avLst/>
          </a:prstGeom>
          <a:ln w="0">
            <a:noFill/>
          </a:ln>
        </p:spPr>
      </p:pic>
      <p:sp>
        <p:nvSpPr>
          <p:cNvPr id="61" name="Retângulo 60"/>
          <p:cNvSpPr/>
          <p:nvPr/>
        </p:nvSpPr>
        <p:spPr>
          <a:xfrm>
            <a:off x="24418620" y="6804060"/>
            <a:ext cx="6689634" cy="25019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3200" b="0" strike="noStrike" spc="-1" dirty="0">
                <a:latin typeface="Arial"/>
              </a:rPr>
              <a:t>GONÇALVES, Miguel </a:t>
            </a:r>
            <a:r>
              <a:rPr lang="pt-BR" sz="3200" b="0" strike="noStrike" spc="-1" dirty="0" smtClean="0">
                <a:latin typeface="Arial"/>
              </a:rPr>
              <a:t>Fonseca;</a:t>
            </a:r>
            <a:endParaRPr lang="pt-BR" sz="32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pt-BR" sz="3200" b="0" strike="noStrike" spc="-1" dirty="0">
                <a:latin typeface="Arial"/>
              </a:rPr>
              <a:t>GIROTTO, </a:t>
            </a:r>
            <a:r>
              <a:rPr lang="pt-BR" sz="3200" b="0" strike="noStrike" spc="-1" dirty="0" smtClean="0">
                <a:latin typeface="Arial"/>
              </a:rPr>
              <a:t>Lucas;</a:t>
            </a:r>
            <a:endParaRPr lang="pt-BR" sz="32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pt-BR" sz="3200" b="0" strike="noStrike" spc="-1" dirty="0">
                <a:latin typeface="Arial"/>
              </a:rPr>
              <a:t>DA SILVA, Diego (orientador</a:t>
            </a:r>
            <a:r>
              <a:rPr lang="pt-BR" sz="3200" b="0" strike="noStrike" spc="-1" dirty="0" smtClean="0">
                <a:latin typeface="Arial"/>
              </a:rPr>
              <a:t>)</a:t>
            </a:r>
            <a:endParaRPr lang="pt-BR" sz="3200" b="0" strike="noStrike" spc="-1" dirty="0">
              <a:latin typeface="Arial"/>
            </a:endParaRPr>
          </a:p>
        </p:txBody>
      </p:sp>
      <p:pic>
        <p:nvPicPr>
          <p:cNvPr id="62" name="Imagem 61"/>
          <p:cNvPicPr/>
          <p:nvPr/>
        </p:nvPicPr>
        <p:blipFill>
          <a:blip r:embed="rId6">
            <a:lum bright="3000"/>
          </a:blip>
          <a:stretch/>
        </p:blipFill>
        <p:spPr>
          <a:xfrm>
            <a:off x="17957880" y="13108320"/>
            <a:ext cx="12521520" cy="10799640"/>
          </a:xfrm>
          <a:prstGeom prst="rect">
            <a:avLst/>
          </a:prstGeom>
          <a:ln w="0">
            <a:noFill/>
          </a:ln>
        </p:spPr>
      </p:pic>
      <p:pic>
        <p:nvPicPr>
          <p:cNvPr id="63" name="Imagem 62"/>
          <p:cNvPicPr/>
          <p:nvPr/>
        </p:nvPicPr>
        <p:blipFill>
          <a:blip r:embed="rId7"/>
          <a:stretch/>
        </p:blipFill>
        <p:spPr>
          <a:xfrm>
            <a:off x="18000000" y="24300000"/>
            <a:ext cx="12441600" cy="4410000"/>
          </a:xfrm>
          <a:prstGeom prst="rect">
            <a:avLst/>
          </a:prstGeom>
          <a:ln w="0">
            <a:noFill/>
          </a:ln>
        </p:spPr>
      </p:pic>
      <p:sp>
        <p:nvSpPr>
          <p:cNvPr id="64" name="Retângulo 63"/>
          <p:cNvSpPr/>
          <p:nvPr/>
        </p:nvSpPr>
        <p:spPr>
          <a:xfrm>
            <a:off x="687135" y="12834476"/>
            <a:ext cx="15193440" cy="143163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/>
            <a:r>
              <a:rPr lang="pt-BR" sz="4400" dirty="0" smtClean="0"/>
              <a:t>O projeto propõe o desenvolvimento de uma </a:t>
            </a:r>
            <a:r>
              <a:rPr lang="pt-BR" sz="4400" b="1" dirty="0" smtClean="0"/>
              <a:t>plataforma de compra e venda voltada para itens colecionáveis e outros produtos de nicho</a:t>
            </a:r>
            <a:r>
              <a:rPr lang="pt-BR" sz="4400" dirty="0" smtClean="0"/>
              <a:t>, permitindo que os próprios usuários publiquem seus produtos e encontrem itens por meio de categorias, busca e filtros de preço.</a:t>
            </a:r>
          </a:p>
          <a:p>
            <a:pPr algn="just"/>
            <a:endParaRPr lang="pt-BR" sz="4400" dirty="0" smtClean="0"/>
          </a:p>
          <a:p>
            <a:pPr algn="just"/>
            <a:r>
              <a:rPr lang="pt-BR" sz="4400" dirty="0" smtClean="0"/>
              <a:t>O mercado de colecionáveis vai além de cartas raras e itens de edição limitada. Existem diversas comunidades de interesse, como </a:t>
            </a:r>
            <a:r>
              <a:rPr lang="pt-BR" sz="4400" b="1" dirty="0" smtClean="0"/>
              <a:t>colecionadores de miniaturas, figuras, peças e componentes de computador</a:t>
            </a:r>
            <a:r>
              <a:rPr lang="pt-BR" sz="4400" dirty="0" smtClean="0"/>
              <a:t>, entre outras. Esses segmentos ainda apresentam oportunidades para o desenvolvimento de soluções digitais mais específicas, capazes de aproximar compradores e vendedores com interesses em comum.</a:t>
            </a:r>
          </a:p>
          <a:p>
            <a:pPr algn="just"/>
            <a:endParaRPr lang="pt-BR" sz="4400" dirty="0" smtClean="0"/>
          </a:p>
          <a:p>
            <a:pPr algn="just"/>
            <a:r>
              <a:rPr lang="pt-BR" sz="4400" dirty="0" smtClean="0"/>
              <a:t>Além do valor cultural e afetivo, alguns itens colecionáveis podem </a:t>
            </a:r>
            <a:r>
              <a:rPr lang="pt-BR" sz="4400" b="1" dirty="0" smtClean="0"/>
              <a:t>valorizar significativamente ao longo do tempo</a:t>
            </a:r>
            <a:r>
              <a:rPr lang="pt-BR" sz="4400" dirty="0" smtClean="0"/>
              <a:t>, dependendo de fatores como raridade, conservação, edição e procura. Nesse contexto, o projeto busca explorar como uma plataforma web pode facilitar a negociação desses produtos e, ao mesmo tempo, ser </a:t>
            </a:r>
            <a:r>
              <a:rPr lang="pt-BR" sz="4400" b="1" dirty="0" smtClean="0"/>
              <a:t>adaptada para diferentes comunidades e segmentos de mercado</a:t>
            </a:r>
            <a:r>
              <a:rPr lang="pt-BR" sz="4400" dirty="0" smtClean="0"/>
              <a:t>.</a:t>
            </a:r>
            <a:endParaRPr lang="pt-BR" sz="4400" dirty="0"/>
          </a:p>
        </p:txBody>
      </p:sp>
      <p:sp>
        <p:nvSpPr>
          <p:cNvPr id="68" name="Retângulo 67"/>
          <p:cNvSpPr/>
          <p:nvPr/>
        </p:nvSpPr>
        <p:spPr>
          <a:xfrm>
            <a:off x="16920000" y="31320000"/>
            <a:ext cx="14939640" cy="86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/>
            <a:r>
              <a:rPr lang="pt-BR" sz="4000" dirty="0" smtClean="0"/>
              <a:t>O projeto resultou no desenvolvimento de uma </a:t>
            </a:r>
            <a:r>
              <a:rPr lang="pt-BR" sz="4000" b="1" dirty="0" smtClean="0"/>
              <a:t>plataforma de classificados voltada inicialmente para a compra e venda de itens colecionáveis</a:t>
            </a:r>
            <a:r>
              <a:rPr lang="pt-BR" sz="4000" dirty="0" smtClean="0"/>
              <a:t>, mas com estrutura capaz de ser adaptada para diferentes áreas e comunidades de interesse.</a:t>
            </a:r>
          </a:p>
          <a:p>
            <a:pPr algn="just"/>
            <a:r>
              <a:rPr lang="pt-BR" sz="4000" dirty="0" smtClean="0"/>
              <a:t>A plataforma permite a </a:t>
            </a:r>
            <a:r>
              <a:rPr lang="pt-BR" sz="4000" b="1" dirty="0" smtClean="0"/>
              <a:t>criação de contas de usuário</a:t>
            </a:r>
            <a:r>
              <a:rPr lang="pt-BR" sz="4000" dirty="0" smtClean="0"/>
              <a:t>, a publicação de produtos com </a:t>
            </a:r>
            <a:r>
              <a:rPr lang="pt-BR" sz="4000" b="1" dirty="0" smtClean="0"/>
              <a:t>imagem, nome, categoria e preço</a:t>
            </a:r>
            <a:r>
              <a:rPr lang="pt-BR" sz="4000" dirty="0" smtClean="0"/>
              <a:t>, além da organização dos anúncios por meio de </a:t>
            </a:r>
            <a:r>
              <a:rPr lang="pt-BR" sz="4000" b="1" dirty="0" smtClean="0"/>
              <a:t>filtros de categoria e faixa de preço</a:t>
            </a:r>
            <a:r>
              <a:rPr lang="pt-BR" sz="4000" dirty="0" smtClean="0"/>
              <a:t>.</a:t>
            </a:r>
          </a:p>
          <a:p>
            <a:pPr algn="just"/>
            <a:r>
              <a:rPr lang="pt-BR" sz="4000" dirty="0" smtClean="0"/>
              <a:t>Para o armazenamento e gerenciamento das informações, foi desenvolvido um </a:t>
            </a:r>
            <a:r>
              <a:rPr lang="pt-BR" sz="4000" b="1" dirty="0" smtClean="0"/>
              <a:t>banco de dados</a:t>
            </a:r>
            <a:r>
              <a:rPr lang="pt-BR" sz="4000" dirty="0" smtClean="0"/>
              <a:t>, contendo as tabelas </a:t>
            </a:r>
            <a:r>
              <a:rPr lang="pt-BR" sz="4000" b="1" dirty="0" smtClean="0"/>
              <a:t>usuários</a:t>
            </a:r>
            <a:r>
              <a:rPr lang="pt-BR" sz="4000" dirty="0" smtClean="0"/>
              <a:t> e </a:t>
            </a:r>
            <a:r>
              <a:rPr lang="pt-BR" sz="4000" b="1" dirty="0" smtClean="0"/>
              <a:t>produtos</a:t>
            </a:r>
            <a:r>
              <a:rPr lang="pt-BR" sz="4000" dirty="0" smtClean="0"/>
              <a:t>, possibilitando relacionar os usuários aos itens publicados.</a:t>
            </a:r>
          </a:p>
          <a:p>
            <a:pPr algn="just"/>
            <a:r>
              <a:rPr lang="pt-BR" sz="4000" dirty="0" smtClean="0"/>
              <a:t>Dessa forma, o projeto demonstra como tecnologias de desenvolvimento web podem ser utilizadas para criar uma solução funcional e flexível, capaz de atender tanto ao mercado de colecionáveis quanto a </a:t>
            </a:r>
            <a:r>
              <a:rPr lang="pt-BR" sz="4000" b="1" dirty="0" smtClean="0"/>
              <a:t>outros nichos e comunidades de entusiastas</a:t>
            </a:r>
            <a:r>
              <a:rPr lang="pt-BR" sz="4000" dirty="0" smtClean="0"/>
              <a:t>.</a:t>
            </a:r>
          </a:p>
          <a:p>
            <a:pPr algn="just">
              <a:lnSpc>
                <a:spcPct val="100000"/>
              </a:lnSpc>
            </a:pPr>
            <a:endParaRPr lang="pt-BR" sz="40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pt-BR" sz="4000" b="0" strike="noStrike" spc="-1" dirty="0">
              <a:latin typeface="Arial"/>
            </a:endParaRPr>
          </a:p>
        </p:txBody>
      </p:sp>
      <p:sp>
        <p:nvSpPr>
          <p:cNvPr id="69" name="Retângulo 68"/>
          <p:cNvSpPr/>
          <p:nvPr/>
        </p:nvSpPr>
        <p:spPr>
          <a:xfrm>
            <a:off x="18720000" y="34380000"/>
            <a:ext cx="10979640" cy="451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pt-BR" sz="3200" b="0" strike="noStrike" spc="-1" dirty="0">
              <a:latin typeface="Arial"/>
            </a:endParaRPr>
          </a:p>
        </p:txBody>
      </p:sp>
      <p:sp>
        <p:nvSpPr>
          <p:cNvPr id="70" name="Retângulo 69"/>
          <p:cNvSpPr/>
          <p:nvPr/>
        </p:nvSpPr>
        <p:spPr>
          <a:xfrm>
            <a:off x="1675260" y="29529360"/>
            <a:ext cx="10439640" cy="281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pt-BR" sz="4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3200" b="0" strike="noStrike" spc="-1" dirty="0">
              <a:latin typeface="Arial"/>
            </a:endParaRPr>
          </a:p>
        </p:txBody>
      </p:sp>
      <p:sp>
        <p:nvSpPr>
          <p:cNvPr id="71" name="Retângulo 70"/>
          <p:cNvSpPr/>
          <p:nvPr/>
        </p:nvSpPr>
        <p:spPr>
          <a:xfrm>
            <a:off x="3780000" y="36606600"/>
            <a:ext cx="9719640" cy="292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pt-BR" sz="4000" b="0" strike="noStrike" spc="-1" dirty="0">
              <a:latin typeface="Arial"/>
            </a:endParaRPr>
          </a:p>
        </p:txBody>
      </p:sp>
      <p:sp>
        <p:nvSpPr>
          <p:cNvPr id="73" name="Retângulo 72"/>
          <p:cNvSpPr/>
          <p:nvPr/>
        </p:nvSpPr>
        <p:spPr>
          <a:xfrm>
            <a:off x="16920000" y="44077920"/>
            <a:ext cx="15095160" cy="623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pt-BR" sz="3600" b="1" dirty="0" smtClean="0"/>
              <a:t>DEVEMDOBRO</a:t>
            </a:r>
            <a:r>
              <a:rPr lang="pt-BR" sz="3600" dirty="0" smtClean="0"/>
              <a:t>. </a:t>
            </a:r>
            <a:r>
              <a:rPr lang="pt-BR" sz="3600" i="1" dirty="0" smtClean="0"/>
              <a:t>Semana do Zero ao Programador Contratado</a:t>
            </a:r>
            <a:r>
              <a:rPr lang="pt-BR" sz="3600" dirty="0" smtClean="0"/>
              <a:t>. Disponível em: https://www.devemdobro.com. Acesso em: 17 abr. 2025 a 24 abr. 2025.</a:t>
            </a:r>
          </a:p>
          <a:p>
            <a:r>
              <a:rPr lang="pt-BR" sz="3600" b="1" dirty="0" smtClean="0"/>
              <a:t>YOUTUBE</a:t>
            </a:r>
            <a:r>
              <a:rPr lang="pt-BR" sz="3600" dirty="0" smtClean="0"/>
              <a:t>. </a:t>
            </a:r>
            <a:r>
              <a:rPr lang="pt-BR" sz="3600" i="1" dirty="0" smtClean="0"/>
              <a:t>Canais de aprendizado em programação web</a:t>
            </a:r>
            <a:r>
              <a:rPr lang="pt-BR" sz="3600" dirty="0" smtClean="0"/>
              <a:t>. Disponível em: https://www.youtube.com. Acesso em: 17 abr. 2025.</a:t>
            </a:r>
          </a:p>
          <a:p>
            <a:r>
              <a:rPr lang="pt-BR" sz="3600" b="1" dirty="0" smtClean="0"/>
              <a:t>GOOGLE</a:t>
            </a:r>
            <a:r>
              <a:rPr lang="pt-BR" sz="3600" dirty="0" smtClean="0"/>
              <a:t>. </a:t>
            </a:r>
            <a:r>
              <a:rPr lang="pt-BR" sz="3600" i="1" dirty="0" smtClean="0"/>
              <a:t>Google Sala de Aula (Google </a:t>
            </a:r>
            <a:r>
              <a:rPr lang="pt-BR" sz="3600" i="1" dirty="0" err="1" smtClean="0"/>
              <a:t>Classroom</a:t>
            </a:r>
            <a:r>
              <a:rPr lang="pt-BR" sz="3600" i="1" dirty="0" smtClean="0"/>
              <a:t>)</a:t>
            </a:r>
            <a:r>
              <a:rPr lang="pt-BR" sz="3600" dirty="0" smtClean="0"/>
              <a:t>. Disponível em: https://classroom.google.com/. Acesso em: 2026.</a:t>
            </a:r>
          </a:p>
          <a:p>
            <a:r>
              <a:rPr lang="pt-BR" sz="3600" b="1" dirty="0" smtClean="0"/>
              <a:t>NODE.JS</a:t>
            </a:r>
            <a:r>
              <a:rPr lang="pt-BR" sz="3600" dirty="0" smtClean="0"/>
              <a:t>. </a:t>
            </a:r>
            <a:r>
              <a:rPr lang="pt-BR" sz="3600" i="1" dirty="0" smtClean="0"/>
              <a:t>Node.js</a:t>
            </a:r>
            <a:r>
              <a:rPr lang="pt-BR" sz="3600" dirty="0" smtClean="0"/>
              <a:t>. Disponível em: https://nodejs.org/pt-br. Acesso em: 2026.</a:t>
            </a:r>
          </a:p>
          <a:p>
            <a:pPr>
              <a:lnSpc>
                <a:spcPct val="100000"/>
              </a:lnSpc>
            </a:pPr>
            <a:endParaRPr lang="pt-BR" sz="3600" b="0" strike="noStrike" spc="-1" dirty="0">
              <a:latin typeface="Arial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687135" y="31041300"/>
            <a:ext cx="15193080" cy="11603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400" dirty="0" smtClean="0"/>
              <a:t>O desenvolvimento do projeto teve como foco a criação de uma </a:t>
            </a:r>
            <a:r>
              <a:rPr lang="pt-BR" sz="4400" b="1" dirty="0" smtClean="0"/>
              <a:t>interface web voltada para a compra e venda de itens colecionáveis</a:t>
            </a:r>
            <a:r>
              <a:rPr lang="pt-BR" sz="4400" dirty="0" smtClean="0"/>
              <a:t>, com possibilidade de adaptação para diferentes nichos e comunidades de entusiastas.</a:t>
            </a:r>
          </a:p>
          <a:p>
            <a:pPr algn="just"/>
            <a:r>
              <a:rPr lang="pt-BR" sz="4400" dirty="0" smtClean="0"/>
              <a:t>No </a:t>
            </a:r>
            <a:r>
              <a:rPr lang="pt-BR" sz="4400" b="1" dirty="0" smtClean="0"/>
              <a:t>Front-</a:t>
            </a:r>
            <a:r>
              <a:rPr lang="pt-BR" sz="4400" b="1" dirty="0" err="1" smtClean="0"/>
              <a:t>End</a:t>
            </a:r>
            <a:r>
              <a:rPr lang="pt-BR" sz="4400" dirty="0" smtClean="0"/>
              <a:t>, foram utilizadas as tecnologias </a:t>
            </a:r>
            <a:r>
              <a:rPr lang="pt-BR" sz="4400" b="1" dirty="0" smtClean="0"/>
              <a:t>HTML, CSS e </a:t>
            </a:r>
            <a:r>
              <a:rPr lang="pt-BR" sz="4400" b="1" dirty="0" err="1" smtClean="0"/>
              <a:t>JavaScript</a:t>
            </a:r>
            <a:r>
              <a:rPr lang="pt-BR" sz="4400" dirty="0" smtClean="0"/>
              <a:t>. O HTML estrutura os produtos e as informações apresentadas na página, enquanto o CSS é responsável pela organização e apresentação visual da interface. O </a:t>
            </a:r>
            <a:r>
              <a:rPr lang="pt-BR" sz="4400" dirty="0" err="1" smtClean="0"/>
              <a:t>JavaScript</a:t>
            </a:r>
            <a:r>
              <a:rPr lang="pt-BR" sz="4400" dirty="0" smtClean="0"/>
              <a:t> foi utilizado para desenvolver um </a:t>
            </a:r>
            <a:r>
              <a:rPr lang="pt-BR" sz="4400" b="1" dirty="0" smtClean="0"/>
              <a:t>sistema de filtros</a:t>
            </a:r>
            <a:r>
              <a:rPr lang="pt-BR" sz="4400" dirty="0" smtClean="0"/>
              <a:t>, permitindo que os usuários encontrem produtos de acordo com critérios como categoria e preço.</a:t>
            </a:r>
          </a:p>
          <a:p>
            <a:pPr algn="just"/>
            <a:r>
              <a:rPr lang="pt-BR" sz="4400" dirty="0" smtClean="0"/>
              <a:t>Ao selecionar um filtro, o </a:t>
            </a:r>
            <a:r>
              <a:rPr lang="pt-BR" sz="4400" dirty="0" err="1" smtClean="0"/>
              <a:t>JavaScript</a:t>
            </a:r>
            <a:r>
              <a:rPr lang="pt-BR" sz="4400" dirty="0" smtClean="0"/>
              <a:t> identifica os produtos correspondentes e altera sua exibição na página, ocultando aqueles que não atendem aos critérios selecionados. Dessa forma, o projeto busca proporcionar uma </a:t>
            </a:r>
            <a:r>
              <a:rPr lang="pt-BR" sz="4400" b="1" dirty="0" smtClean="0"/>
              <a:t>navegação mais organizada, rápida e intuitiva</a:t>
            </a:r>
            <a:r>
              <a:rPr lang="pt-BR" sz="4400" dirty="0" smtClean="0"/>
              <a:t>, facilitando a busca por produtos específicos.</a:t>
            </a:r>
            <a:endParaRPr lang="pt-BR" sz="44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0260" y="857175"/>
            <a:ext cx="7197174" cy="5026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577</Words>
  <Application>Microsoft Office PowerPoint</Application>
  <PresentationFormat>Personalizar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Calibri</vt:lpstr>
      <vt:lpstr>DejaVu Sans</vt:lpstr>
      <vt:lpstr>Symbol</vt:lpstr>
      <vt:lpstr>Times New Roman</vt:lpstr>
      <vt:lpstr>Wingdings</vt:lpstr>
      <vt:lpstr>Tema do Office</vt:lpstr>
      <vt:lpstr>COLECTOR MARKET VENDA DE ITEMS DE COLECIONADOR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COLECTOR MARKET VENDA DE ITEMS DE COLECIONADOR</dc:title>
  <dc:subject/>
  <dc:creator>FAG</dc:creator>
  <dc:description/>
  <cp:lastModifiedBy>Anete</cp:lastModifiedBy>
  <cp:revision>6</cp:revision>
  <dcterms:created xsi:type="dcterms:W3CDTF">2011-10-05T21:30:37Z</dcterms:created>
  <dcterms:modified xsi:type="dcterms:W3CDTF">2026-10-04T11:36:45Z</dcterms:modified>
  <dc:language>pt-BR</dc:language>
</cp:coreProperties>
</file>