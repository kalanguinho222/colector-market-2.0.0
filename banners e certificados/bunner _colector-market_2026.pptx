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media/image1.jpeg" ContentType="image/jpeg"/>
  <Override PartName="/ppt/media/image3.png" ContentType="image/png"/>
  <Override PartName="/ppt/media/image2.jpeg" ContentType="image/jpeg"/>
  <Override PartName="/ppt/media/image8.png" ContentType="image/png"/>
  <Override PartName="/ppt/media/image4.jpeg" ContentType="image/jpe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32404050" cy="51206400"/>
  <p:notesSz cx="6888163" cy="100203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latin typeface="Arial"/>
              </a:rPr>
              <a:t>Clique para mover o slide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pt-BR" sz="2000" spc="-1" strike="noStrike">
                <a:latin typeface="Arial"/>
              </a:rPr>
              <a:t>Clique para editar o formato de notas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latin typeface="Times New Roman"/>
              </a:rPr>
              <a:t>&lt;cabeçalho&gt;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indent="0" algn="r">
              <a:buNone/>
            </a:pPr>
            <a:fld id="{BD9C849F-56F3-4A48-879F-89DF3E6ABEF7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2255760" y="750960"/>
            <a:ext cx="2375640" cy="375696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9040" y="4759200"/>
            <a:ext cx="5509440" cy="4509360"/>
          </a:xfrm>
          <a:prstGeom prst="rect">
            <a:avLst/>
          </a:prstGeom>
          <a:noFill/>
          <a:ln w="0">
            <a:noFill/>
          </a:ln>
        </p:spPr>
        <p:txBody>
          <a:bodyPr lIns="96480" rIns="96480" tIns="48240" bIns="48240" anchor="t">
            <a:noAutofit/>
          </a:bodyPr>
          <a:p>
            <a:pPr marL="216000" indent="0">
              <a:buNone/>
            </a:pPr>
            <a:endParaRPr b="0" lang="pt-BR" sz="2000" spc="-1" strike="noStrike">
              <a:latin typeface="Arial"/>
            </a:endParaRPr>
          </a:p>
        </p:txBody>
      </p:sp>
      <p:sp>
        <p:nvSpPr>
          <p:cNvPr id="76" name="Google Shape;87;p1:notes"/>
          <p:cNvSpPr/>
          <p:nvPr/>
        </p:nvSpPr>
        <p:spPr>
          <a:xfrm>
            <a:off x="3902040" y="9516960"/>
            <a:ext cx="298368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6480" rIns="96480" tIns="48240" bIns="4824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D5AB0A08-DFF7-47B8-A8E3-6EE2E82CEDC5}" type="slidenum"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&lt;número&gt;</a:t>
            </a:fld>
            <a:endParaRPr b="0" lang="pt-BR" sz="13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0C84778-4E09-45C7-BE40-555006355B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620000" y="11982240"/>
            <a:ext cx="29162880" cy="296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CFE11A-16B7-4F79-8088-8D0773E86E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1620000" y="11982240"/>
            <a:ext cx="29162880" cy="296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6AE1DA-AAEA-4645-91AC-683D5E51B3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620000" y="11982240"/>
            <a:ext cx="14231160" cy="296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16563240" y="11982240"/>
            <a:ext cx="14231160" cy="296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1418C9-7F83-4238-964C-19A45AD81F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F06A23-281E-4798-ABEA-889467E2CC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2430360" y="15907320"/>
            <a:ext cx="27542880" cy="508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45C78F-84D9-47AA-936E-1BCE7A4519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620000" y="119822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16563240" y="11982240"/>
            <a:ext cx="14231160" cy="296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1620000" y="274946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E9F8418-43CD-47FD-B856-EAAF66201C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620000" y="11982240"/>
            <a:ext cx="14231160" cy="296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16563240" y="119822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16563240" y="274946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419787-71A8-47C2-A113-1A32206979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620000" y="119822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16563240" y="119822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620000" y="27494640"/>
            <a:ext cx="2916288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E12006-7B84-4849-9B95-BC542ADD35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620000" y="11982240"/>
            <a:ext cx="2916288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620000" y="27494640"/>
            <a:ext cx="2916288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2F30CD-D9BA-4F75-A476-154370D333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620000" y="119822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16563240" y="119822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620000" y="274946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16563240" y="27494640"/>
            <a:ext cx="1423116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0E8366-E46B-4B2F-AFC2-69CF9769270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620000" y="11982240"/>
            <a:ext cx="939024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11480040" y="11982240"/>
            <a:ext cx="939024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21340440" y="11982240"/>
            <a:ext cx="939024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1620000" y="27494640"/>
            <a:ext cx="939024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11480040" y="27494640"/>
            <a:ext cx="939024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21340440" y="27494640"/>
            <a:ext cx="9390240" cy="1416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28D25D-2150-475F-8DA4-6EDB502F228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430360" y="15907320"/>
            <a:ext cx="27542880" cy="1097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latin typeface="Arial"/>
              </a:rPr>
              <a:t>Clique para editar o formato do texto do título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11071080" y="47461320"/>
            <a:ext cx="10260720" cy="2726640"/>
          </a:xfrm>
          <a:prstGeom prst="rect">
            <a:avLst/>
          </a:prstGeom>
          <a:noFill/>
          <a:ln w="0">
            <a:noFill/>
          </a:ln>
        </p:spPr>
        <p:txBody>
          <a:bodyPr lIns="432000" rIns="432000" tIns="216000" bIns="216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23223600" y="47461320"/>
            <a:ext cx="7558920" cy="2726640"/>
          </a:xfrm>
          <a:prstGeom prst="rect">
            <a:avLst/>
          </a:prstGeom>
          <a:noFill/>
          <a:ln w="0">
            <a:noFill/>
          </a:ln>
        </p:spPr>
        <p:txBody>
          <a:bodyPr lIns="432000" rIns="432000" tIns="216000" bIns="216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5700" spc="-1" strike="noStrike">
                <a:solidFill>
                  <a:srgbClr val="898989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42A96B-73A4-4803-9FFB-CAC192CDB3D9}" type="slidenum">
              <a:rPr b="0" lang="en-US" sz="5700" spc="-1" strike="noStrike">
                <a:solidFill>
                  <a:srgbClr val="898989"/>
                </a:solidFill>
                <a:latin typeface="Calibri"/>
                <a:ea typeface="Calibri"/>
              </a:rPr>
              <a:t>&lt;número&gt;</a:t>
            </a:fld>
            <a:endParaRPr b="0" lang="pt-BR" sz="57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1620720" y="47461320"/>
            <a:ext cx="7558920" cy="2726640"/>
          </a:xfrm>
          <a:prstGeom prst="rect">
            <a:avLst/>
          </a:prstGeom>
          <a:noFill/>
          <a:ln w="0">
            <a:noFill/>
          </a:ln>
        </p:spPr>
        <p:txBody>
          <a:bodyPr lIns="432000" rIns="432000" tIns="216000" bIns="216000" anchor="ctr">
            <a:noAutofit/>
          </a:bodyPr>
          <a:lstStyle>
            <a:lvl1pPr indent="0">
              <a:buNone/>
              <a:defRPr b="0" lang="pt-BR" sz="1400" spc="-1" strike="noStrike"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1620000" y="11982240"/>
            <a:ext cx="29162880" cy="296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297480" y="7026120"/>
            <a:ext cx="19393920" cy="3671280"/>
          </a:xfrm>
          <a:prstGeom prst="rect">
            <a:avLst/>
          </a:prstGeom>
          <a:noFill/>
          <a:ln w="0">
            <a:noFill/>
          </a:ln>
        </p:spPr>
        <p:txBody>
          <a:bodyPr lIns="432000" rIns="432000" tIns="216000" bIns="21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chemeClr val="dk1"/>
                </a:solidFill>
                <a:latin typeface="Arial"/>
                <a:ea typeface="Arial"/>
              </a:rPr>
              <a:t>COLECTOR MARKET</a:t>
            </a:r>
            <a:br>
              <a:rPr sz="6000"/>
            </a:br>
            <a:r>
              <a:rPr b="1" lang="en-US" sz="6000" spc="-1" strike="noStrike">
                <a:solidFill>
                  <a:schemeClr val="dk1"/>
                </a:solidFill>
                <a:latin typeface="Arial"/>
                <a:ea typeface="Arial"/>
              </a:rPr>
              <a:t>VENDA DE ITEMS DE COLECIONADOR</a:t>
            </a:r>
            <a:endParaRPr b="0" lang="pt-BR" sz="6000" spc="-1" strike="noStrike">
              <a:latin typeface="Arial"/>
            </a:endParaRPr>
          </a:p>
        </p:txBody>
      </p:sp>
      <p:sp>
        <p:nvSpPr>
          <p:cNvPr id="48" name="Google Shape;91;p1"/>
          <p:cNvSpPr/>
          <p:nvPr/>
        </p:nvSpPr>
        <p:spPr>
          <a:xfrm>
            <a:off x="648000" y="11349720"/>
            <a:ext cx="15193080" cy="1460160"/>
          </a:xfrm>
          <a:prstGeom prst="rect">
            <a:avLst/>
          </a:prstGeom>
          <a:solidFill>
            <a:srgbClr val="6cc071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32000" rIns="432000" tIns="216000" bIns="216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chemeClr val="lt1"/>
                </a:solidFill>
                <a:latin typeface="Arial"/>
                <a:ea typeface="Arial"/>
              </a:rPr>
              <a:t>INTRODUÇÃO</a:t>
            </a:r>
            <a:endParaRPr b="0" lang="pt-BR" sz="6000" spc="-1" strike="noStrike">
              <a:latin typeface="Arial"/>
            </a:endParaRPr>
          </a:p>
        </p:txBody>
      </p:sp>
      <p:sp>
        <p:nvSpPr>
          <p:cNvPr id="49" name="Google Shape;92;p1"/>
          <p:cNvSpPr/>
          <p:nvPr/>
        </p:nvSpPr>
        <p:spPr>
          <a:xfrm>
            <a:off x="647640" y="13399920"/>
            <a:ext cx="15121800" cy="18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2000" rIns="432000" tIns="216000" bIns="216000" anchor="t">
            <a:normAutofit/>
          </a:bodyPr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pt-BR" sz="12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pt-BR" sz="2800" spc="-1" strike="noStrike">
              <a:latin typeface="Arial"/>
            </a:endParaRPr>
          </a:p>
        </p:txBody>
      </p:sp>
      <p:sp>
        <p:nvSpPr>
          <p:cNvPr id="50" name="Google Shape;93;p1"/>
          <p:cNvSpPr/>
          <p:nvPr/>
        </p:nvSpPr>
        <p:spPr>
          <a:xfrm>
            <a:off x="801000" y="32019480"/>
            <a:ext cx="15193080" cy="1460160"/>
          </a:xfrm>
          <a:prstGeom prst="rect">
            <a:avLst/>
          </a:prstGeom>
          <a:solidFill>
            <a:srgbClr val="6cc071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32000" rIns="432000" tIns="216000" bIns="216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chemeClr val="lt1"/>
                </a:solidFill>
                <a:latin typeface="Arial"/>
                <a:ea typeface="Arial"/>
              </a:rPr>
              <a:t>DESENVOLVIMENTO</a:t>
            </a:r>
            <a:endParaRPr b="0" lang="pt-BR" sz="6000" spc="-1" strike="noStrike">
              <a:latin typeface="Arial"/>
            </a:endParaRPr>
          </a:p>
        </p:txBody>
      </p:sp>
      <p:sp>
        <p:nvSpPr>
          <p:cNvPr id="51" name="Google Shape;94;p1"/>
          <p:cNvSpPr/>
          <p:nvPr/>
        </p:nvSpPr>
        <p:spPr>
          <a:xfrm>
            <a:off x="837360" y="34560360"/>
            <a:ext cx="15120360" cy="143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Google Shape;95;p1"/>
          <p:cNvSpPr/>
          <p:nvPr/>
        </p:nvSpPr>
        <p:spPr>
          <a:xfrm>
            <a:off x="16634160" y="11345760"/>
            <a:ext cx="15193080" cy="1460160"/>
          </a:xfrm>
          <a:prstGeom prst="rect">
            <a:avLst/>
          </a:prstGeom>
          <a:solidFill>
            <a:srgbClr val="6cc071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32000" rIns="432000" tIns="216000" bIns="216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chemeClr val="lt1"/>
                </a:solidFill>
                <a:latin typeface="Arial"/>
                <a:ea typeface="Arial"/>
              </a:rPr>
              <a:t>RESULTADOS </a:t>
            </a:r>
            <a:endParaRPr b="0" lang="pt-BR" sz="6000" spc="-1" strike="noStrike">
              <a:latin typeface="Arial"/>
            </a:endParaRPr>
          </a:p>
        </p:txBody>
      </p:sp>
      <p:sp>
        <p:nvSpPr>
          <p:cNvPr id="53" name="Google Shape;96;p1"/>
          <p:cNvSpPr/>
          <p:nvPr/>
        </p:nvSpPr>
        <p:spPr>
          <a:xfrm>
            <a:off x="16922880" y="13412880"/>
            <a:ext cx="15120360" cy="157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Google Shape;97;p1"/>
          <p:cNvSpPr/>
          <p:nvPr/>
        </p:nvSpPr>
        <p:spPr>
          <a:xfrm>
            <a:off x="16777440" y="29529360"/>
            <a:ext cx="15193080" cy="1460160"/>
          </a:xfrm>
          <a:prstGeom prst="rect">
            <a:avLst/>
          </a:prstGeom>
          <a:solidFill>
            <a:srgbClr val="6cc071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32000" rIns="432000" tIns="216000" bIns="216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chemeClr val="lt1"/>
                </a:solidFill>
                <a:latin typeface="Arial"/>
                <a:ea typeface="Arial"/>
              </a:rPr>
              <a:t>CONCLUSÃO </a:t>
            </a:r>
            <a:endParaRPr b="0" lang="pt-BR" sz="6000" spc="-1" strike="noStrike">
              <a:latin typeface="Arial"/>
            </a:endParaRPr>
          </a:p>
        </p:txBody>
      </p:sp>
      <p:sp>
        <p:nvSpPr>
          <p:cNvPr id="55" name="Google Shape;98;p1"/>
          <p:cNvSpPr/>
          <p:nvPr/>
        </p:nvSpPr>
        <p:spPr>
          <a:xfrm>
            <a:off x="16857720" y="31577040"/>
            <a:ext cx="15121800" cy="76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Google Shape;99;p1"/>
          <p:cNvSpPr/>
          <p:nvPr/>
        </p:nvSpPr>
        <p:spPr>
          <a:xfrm>
            <a:off x="16920000" y="38679480"/>
            <a:ext cx="15193080" cy="1460160"/>
          </a:xfrm>
          <a:prstGeom prst="rect">
            <a:avLst/>
          </a:prstGeom>
          <a:solidFill>
            <a:srgbClr val="6cc071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432000" rIns="432000" tIns="216000" bIns="216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chemeClr val="lt1"/>
                </a:solidFill>
                <a:latin typeface="Arial"/>
                <a:ea typeface="Arial"/>
              </a:rPr>
              <a:t>REFERÊNCIAS </a:t>
            </a:r>
            <a:endParaRPr b="0" lang="pt-BR" sz="6000" spc="-1" strike="noStrike">
              <a:latin typeface="Arial"/>
            </a:endParaRPr>
          </a:p>
        </p:txBody>
      </p:sp>
      <p:pic>
        <p:nvPicPr>
          <p:cNvPr id="57" name="Google Shape;101;p1" descr=""/>
          <p:cNvPicPr/>
          <p:nvPr/>
        </p:nvPicPr>
        <p:blipFill>
          <a:blip r:embed="rId1"/>
          <a:stretch/>
        </p:blipFill>
        <p:spPr>
          <a:xfrm>
            <a:off x="3902040" y="1819440"/>
            <a:ext cx="4968000" cy="4061520"/>
          </a:xfrm>
          <a:prstGeom prst="rect">
            <a:avLst/>
          </a:prstGeom>
          <a:ln w="0">
            <a:noFill/>
          </a:ln>
        </p:spPr>
      </p:pic>
      <p:pic>
        <p:nvPicPr>
          <p:cNvPr id="58" name="Google Shape;102;p1" descr="http://www.ceepcascavel.com.br/home/file.php/1/EXPOCEEP2014/EXPOCEEP5_copy.jpg"/>
          <p:cNvPicPr/>
          <p:nvPr/>
        </p:nvPicPr>
        <p:blipFill>
          <a:blip r:embed="rId2"/>
          <a:srcRect l="13656" t="7087" r="11811" b="21134"/>
          <a:stretch/>
        </p:blipFill>
        <p:spPr>
          <a:xfrm>
            <a:off x="12308760" y="1560600"/>
            <a:ext cx="7786080" cy="5465160"/>
          </a:xfrm>
          <a:prstGeom prst="rect">
            <a:avLst/>
          </a:prstGeom>
          <a:ln w="0">
            <a:noFill/>
          </a:ln>
        </p:spPr>
      </p:pic>
      <p:pic>
        <p:nvPicPr>
          <p:cNvPr id="59" name="Google Shape;104;p1" descr=""/>
          <p:cNvPicPr/>
          <p:nvPr/>
        </p:nvPicPr>
        <p:blipFill>
          <a:blip r:embed="rId3"/>
          <a:srcRect l="112192" t="48618" r="-112192" b="26619"/>
          <a:stretch/>
        </p:blipFill>
        <p:spPr>
          <a:xfrm flipH="1" rot="10800000">
            <a:off x="28133640" y="2873520"/>
            <a:ext cx="2440800" cy="126612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4"/>
          <a:stretch/>
        </p:blipFill>
        <p:spPr>
          <a:xfrm>
            <a:off x="23940000" y="0"/>
            <a:ext cx="5760360" cy="7680960"/>
          </a:xfrm>
          <a:prstGeom prst="rect">
            <a:avLst/>
          </a:prstGeom>
          <a:ln w="0">
            <a:noFill/>
          </a:ln>
        </p:spPr>
      </p:pic>
      <p:sp>
        <p:nvSpPr>
          <p:cNvPr id="61" name=""/>
          <p:cNvSpPr/>
          <p:nvPr/>
        </p:nvSpPr>
        <p:spPr>
          <a:xfrm>
            <a:off x="24120000" y="8640000"/>
            <a:ext cx="7739640" cy="19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3200" spc="-1" strike="noStrike">
                <a:latin typeface="Arial"/>
              </a:rPr>
              <a:t>GONÇALVES, Miguel Fonseca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3200" spc="-1" strike="noStrike">
                <a:latin typeface="Arial"/>
              </a:rPr>
              <a:t>GIROTTO, Lucas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3200" spc="-1" strike="noStrike">
                <a:latin typeface="Arial"/>
              </a:rPr>
              <a:t>DA SILVA, Diego (orientador)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3200" spc="-1" strike="noStrike">
                <a:latin typeface="Arial"/>
              </a:rPr>
              <a:t>2°M Desenvolvimento de Sistemas</a:t>
            </a:r>
            <a:endParaRPr b="0" lang="pt-BR" sz="3200" spc="-1" strike="noStrike"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5">
            <a:lum bright="3000"/>
          </a:blip>
          <a:stretch/>
        </p:blipFill>
        <p:spPr>
          <a:xfrm>
            <a:off x="17957880" y="13108320"/>
            <a:ext cx="12521520" cy="1079964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6"/>
          <a:stretch/>
        </p:blipFill>
        <p:spPr>
          <a:xfrm>
            <a:off x="18000000" y="24300000"/>
            <a:ext cx="12441600" cy="4410000"/>
          </a:xfrm>
          <a:prstGeom prst="rect">
            <a:avLst/>
          </a:prstGeom>
          <a:ln w="0">
            <a:noFill/>
          </a:ln>
        </p:spPr>
      </p:pic>
      <p:sp>
        <p:nvSpPr>
          <p:cNvPr id="64" name=""/>
          <p:cNvSpPr/>
          <p:nvPr/>
        </p:nvSpPr>
        <p:spPr>
          <a:xfrm>
            <a:off x="1580400" y="13330440"/>
            <a:ext cx="14619240" cy="68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latin typeface="Arial"/>
              </a:rPr>
              <a:t>O meu projeto é um site de vendas de itens de colecionador, tipo cartas raras, ou itens de edição limitada, onde que o usuário poderia publicar seus próprios itens estilo site de classificados, onde os itens são filtrados por categoria e preço.</a:t>
            </a:r>
            <a:endParaRPr b="0" lang="pt-BR" sz="4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4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4000" spc="-1" strike="noStrike">
                <a:latin typeface="Arial"/>
              </a:rPr>
              <a:t>	</a:t>
            </a:r>
            <a:r>
              <a:rPr b="0" lang="pt-BR" sz="4000" spc="-1" strike="noStrike">
                <a:latin typeface="Arial"/>
              </a:rPr>
              <a:t>O principal problema que eu busco solucionar é a falta de sites ou aplicativos de vendas de coisas específicas para entusiastas pois são áreas pouco notadas ou exploradas em desenvolvimento web e em softwares, não só sobre colecionáveis pois o site pode ser facilmente adaptado para outras áreas de produtos.</a:t>
            </a:r>
            <a:endParaRPr b="0" lang="pt-BR" sz="4000" spc="-1" strike="noStrike"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7"/>
          <a:stretch/>
        </p:blipFill>
        <p:spPr>
          <a:xfrm>
            <a:off x="1440000" y="20224440"/>
            <a:ext cx="6299640" cy="11469600"/>
          </a:xfrm>
          <a:prstGeom prst="rect">
            <a:avLst/>
          </a:prstGeom>
          <a:ln w="0">
            <a:noFill/>
          </a:ln>
        </p:spPr>
      </p:pic>
      <p:sp>
        <p:nvSpPr>
          <p:cNvPr id="66" name=""/>
          <p:cNvSpPr/>
          <p:nvPr/>
        </p:nvSpPr>
        <p:spPr>
          <a:xfrm>
            <a:off x="9000000" y="19800000"/>
            <a:ext cx="6479640" cy="52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3600" spc="-1" strike="noStrike">
                <a:latin typeface="Arial"/>
              </a:rPr>
              <a:t>Colecionaveis e outras areas Foram muito pouco exploradas Alem de apenas cartas Existem outros intusiasmos, por exempo comunidades tipo a de monategen de computadores ou de minifugures,</a:t>
            </a:r>
            <a:endParaRPr b="0" lang="pt-BR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3600" spc="-1" strike="noStrike">
                <a:latin typeface="Arial"/>
              </a:rPr>
              <a:t>E muito mais.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9000000" y="25278120"/>
            <a:ext cx="5759640" cy="31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3600" spc="-1" strike="noStrike">
                <a:latin typeface="Arial"/>
              </a:rPr>
              <a:t>Itens colecionaveis podem ser um otimo investimento pois dependendo podem multiplicar seu valor origina.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8900000" y="31320000"/>
            <a:ext cx="10979640" cy="34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latin typeface="Arial"/>
              </a:rPr>
              <a:t>Meu objetivo é desenvolver um site de venda de classificados em que os produtos são itens de colecionador, mas com uma ampla capacidade de se adaptar a outras áreas de entusiasmo.</a:t>
            </a:r>
            <a:endParaRPr b="0" lang="pt-BR" sz="4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4000" spc="-1" strike="noStrike"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8720000" y="34380000"/>
            <a:ext cx="10979640" cy="45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latin typeface="Arial"/>
              </a:rPr>
              <a:t>Um site de classificados em que os produtos podem ser filtrados por preço e categorias</a:t>
            </a:r>
            <a:endParaRPr b="0" lang="pt-BR" sz="4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4000" spc="-1" strike="noStrike">
                <a:latin typeface="Arial"/>
              </a:rPr>
              <a:t>contendo conta do usuário</a:t>
            </a:r>
            <a:endParaRPr b="0" lang="pt-BR" sz="4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4000" spc="-1" strike="noStrike">
                <a:latin typeface="Arial"/>
              </a:rPr>
              <a:t>produtos postados pelo usuário com imagens, nome, categoria e preço</a:t>
            </a:r>
            <a:endParaRPr b="0" lang="pt-BR" sz="4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4000" spc="-1" strike="noStrike">
                <a:latin typeface="Arial"/>
              </a:rPr>
              <a:t>banco de dados contendo a tabela usuarios e a tabela produtos</a:t>
            </a:r>
            <a:endParaRPr b="0" lang="pt-BR" sz="4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3780000" y="34020000"/>
            <a:ext cx="10439640" cy="28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latin typeface="Arial"/>
              </a:rPr>
              <a:t>Meu projeto tem uma ideia inovadora pois quase não há sites de venda de itens de colecionador, ou para entusiastas em áreas específicas </a:t>
            </a:r>
            <a:endParaRPr b="0" lang="pt-BR" sz="4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780000" y="36606600"/>
            <a:ext cx="9719640" cy="29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4000" spc="-1" strike="noStrike">
                <a:latin typeface="Arial"/>
              </a:rPr>
              <a:t>Com front end desenvolvido para filtrar as cartas e produtos apartir de um filtro feito em Java script conectado no html para que os filtros se apliquem a os produtos fazendo o css escondelos </a:t>
            </a:r>
            <a:endParaRPr b="0" lang="pt-BR" sz="4000" spc="-1" strike="noStrike"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8"/>
          <a:stretch/>
        </p:blipFill>
        <p:spPr>
          <a:xfrm>
            <a:off x="3780000" y="40017600"/>
            <a:ext cx="9899640" cy="714204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17820000" y="41040000"/>
            <a:ext cx="12239640" cy="62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3600" spc="-1" strike="noStrike">
                <a:latin typeface="Arial"/>
              </a:rPr>
              <a:t>DEVEMDOBRO.Semana do zero ao Programador Contratado.</a:t>
            </a:r>
            <a:endParaRPr b="0" lang="pt-BR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3600" spc="-1" strike="noStrike">
                <a:latin typeface="Arial"/>
              </a:rPr>
              <a:t>disponível em: https://www.devemdobro.com asseso em 17 de abril 2025 a 24 de abril 2025</a:t>
            </a:r>
            <a:endParaRPr b="0" lang="pt-BR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3600" spc="-1" strike="noStrike">
                <a:latin typeface="Arial"/>
              </a:rPr>
              <a:t> </a:t>
            </a:r>
            <a:r>
              <a:rPr b="0" lang="pt-BR" sz="3600" spc="-1" strike="noStrike">
                <a:latin typeface="Arial"/>
              </a:rPr>
              <a:t>YOUTUBE. Canais de aprendizado em programação web. DisponívelEm: https://www.youtube.com. Acesso em: 17 abril 2025.</a:t>
            </a:r>
            <a:endParaRPr b="0" lang="pt-BR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3600" spc="-1" strike="noStrike">
                <a:latin typeface="Arial"/>
              </a:rPr>
              <a:t>GOOGLE. Google Sala de Aula (Google Classroom). 2026. Disponível em: https://classroom.google.com/. </a:t>
            </a:r>
            <a:endParaRPr b="0" lang="pt-BR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3600" spc="-1" strike="noStrike">
                <a:latin typeface="Arial"/>
              </a:rPr>
              <a:t>NODE. Node js framework. 2026. disponível em: https://nodejs.org/pt-br</a:t>
            </a:r>
            <a:endParaRPr b="0" lang="pt-BR" sz="3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PPTX_View_PLUS/7.4.0.3$Windows_X86_64 LibreOffice_project/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2011-10-05T21:30:37Z</dcterms:created>
  <dc:creator>FAG</dc:creator>
  <dc:description/>
  <dc:language>pt-BR</dc:language>
  <cp:lastModifiedBy/>
  <dcterms:modified xsi:type="dcterms:W3CDTF">2026-10-02T20:49:17Z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